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a="http://schemas.openxmlformats.org/drawingml/2006/main" xmlns:r="http://schemas.openxmlformats.org/officeDocument/2006/relationships" xmlns:p="http://schemas.openxmlformats.org/presentationml/2006/main>
  <p:sldMasterIdLst><p:sldMasterId id="2147483648" r:id="rId1"/></p:sldMasterIdLst>
  <p:sldIdLst><p:sldId id="256" r:id="rId10"/><p:sldId id="257" r:id="rId11"/><p:sldId id="258" r:id="rId12"/><p:sldId id="259" r:id="rId13"/><p:sldId id="260" r:id="rId14"/><p:sldId id="261" r:id="rId15"/><p:sldId id="262" r:id="rId16"/><p:sldId id="263" r:id="rId17"/><p:sldId id="264" r:id="rId18"/><p:sldId id="265" r:id="rId19"/><p:sldId id="266" r:id="rId20"/><p:sldId id="267" r:id="rId21"/><p:sldId id="268" r:id="rId22"/><p:sldId id="269" r:id="rId23"/><p:sldId id="270" r:id="rId24"/><p:sldId id="271" r:id="rId25"/><p:sldId id="272" r:id="rId26"/><p:sldId id="273" r:id="rId27"/><p:sldId id="274" r:id="rId28"/><p:sldId id="275" r:id="rId29"/>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theme" Target="../theme/theme1.xml"/>
</Relationships>
</file>

<file path=ppt/slideLayouts/slideLayout1.xml><?xml version="1.0" encoding="UTF-8" standalone="yes"?>
<p:sldLayout xmlns:a="http://schemas.openxmlformats.org/drawingml/2006/main" xmlns:r="http://schemas.openxmlformats.org/officeDocument/2006/relationships" xmlns:p="http://schemas.openxmlformats.org/presentationml/2006/main>
  <p:cSld name="Blank">
    <p:spTree>
      <p:nvGrpSpPr><p:cNvPr id="1" name=""/><p:cNvGrpSpPr/><p:grpSpPr/></p:nvGrpSpPr>
    </p:spTree>
  </p:cSld>
  <p:clrMapOvr><a:masterClrMapping/>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 standalone="yes"?>
<p:sldMaster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</p:spTree>
  </p:cSld>
  <p:clrMap bg1="lt1" tx1="dk1" bg2="lt2" tx2="dk2" accent1="accent1" accent2="accent2" accent3="accent3" accent4="accent4" accent5="accent5" accent6="accent6" hlink="hlink" folHlink="folHlink"/>
  <p:sldLayoutIdLst><p:sldLayoutId id="2147483649" r:id="rId1"/></p:sldLayoutIdLst>
  <p:txStyles><p:titleStyle/><p:bodyStyle/><p:otherStyle/>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১. মডার্ন হাসপাতাল ম্যানেজমেন্ট সিস্টেম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MODERN HOSPITAL MANAGEMENT SYSTEM</a:t></a:r></a:p><a:p><a:r><a:rPr lang="bn" sz="18" b="false" dirty="0"/><a:t>একটি সম্পূর্ণ হাসপাতাল পরিচালনা সফটওয়্যার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নমস্কার। আজ আমি আপনাদের দেখাবো আমাদের তৈরি “মডার্ন হাসপাতাল ম্যানেজমেন্ট সিস্টেম” — যা হাসপাতালের সব কাজ এক প্ল্যাটফর্মে নিয়ে আসে।</a:t></a:r></a:p>
  </p:txBody>
</p:sp>
    </p:spTree>
  </p:cSld>
  <p:clrMapOvr><a:masterClrMapping/></p:clrMapOvr>
</p:slide>
</file>

<file path=ppt/slides/slide2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২. সমস্যা ও সমাধান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সমস্যা: কাগজ-ভিত্তিক রেকর্ড, সমন্বয়হীন বিভাগ</a:t></a:r></a:p><a:p><a:r><a:rPr lang="bn" sz="18" b="false" dirty="0"/><a:t>সমাধান: একীভূত ডিজিটাল সিস্টেম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ঐতিহ্যবাহী হাসপাতালে রোগীর তথ্য, বিল, ওষুধ ও রিপোর্ট আলাদা থাকে, ফলে ভুল ও দেরি হয়।</a:t></a:r></a:p><a:p><a:r><a:rPr lang="bn" sz="16" b="false" dirty="0"/><a:t>আমাদের সিস্টেম সবকিছু ডিজিটাল ও সংযুক্ত করে।</a:t></a:r></a:p>
  </p:txBody>
</p:sp>
    </p:spTree>
  </p:cSld>
  <p:clrMapOvr><a:masterClrMapping/></p:clrMapOvr>
</p:slide>
</file>

<file path=ppt/slides/slide3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৩. প্রযুক্তি স্ট্যাক (Tech Stack)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Frontend: Angular 17</a:t></a:r></a:p><a:p><a:r><a:rPr lang="bn" sz="18" b="false" dirty="0"/><a:t>Backend: Spring Boot (Java 17)</a:t></a:r></a:p><a:p><a:r><a:rPr lang="bn" sz="18" b="false" dirty="0"/><a:t>Database: MySQL</a:t></a:r></a:p><a:p><a:r><a:rPr lang="bn" sz="18" b="false" dirty="0"/><a:t>Security: JWT  •  PDF: iText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সামনের দিকে Angular ১৭, পেছনে Spring Boot ও MySQL।</a:t></a:r></a:p><a:p><a:r><a:rPr lang="bn" sz="16" b="false" dirty="0"/><a:t>লগইন নিরাপত্তার জন্য JWT এবং রিপোর্টের জন্য PDF জেনারেশন ব্যবহার করা হয়েছে।</a:t></a:r></a:p>
  </p:txBody>
</p:sp>
    </p:spTree>
  </p:cSld>
  <p:clrMapOvr><a:masterClrMapping/></p:clrMapOvr>
</p:slide>
</file>

<file path=ppt/slides/slide4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৪. সিস্টেম আর্কিটেকচার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Browser / Angular</a:t></a:r></a:p><a:p><a:r><a:rPr lang="bn" sz="18" b="false" dirty="0"/><a:t>↓ REST API</a:t></a:r></a:p><a:p><a:r><a:rPr lang="bn" sz="18" b="false" dirty="0"/><a:t>↓ Spring Boot</a:t></a:r></a:p><a:p><a:r><a:rPr lang="bn" sz="18" b="false" dirty="0"/><a:t>↓ MySQL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আর্কিটেকচারটি হলো ক্লায়েন্ট-সার্ভার মডেল।</a:t></a:r></a:p><a:p><a:r><a:rPr lang="bn" sz="16" b="false" dirty="0"/><a:t>Angular ইন্টারফেস REST API-এর মাধ্যমে Spring Boot-এর সাথে যোগাযোগ করে, আর ডাটা সংরক্ষিত হয় MySQL-এ।</a:t></a:r></a:p>
  </p:txBody>
</p:sp>
    </p:spTree>
  </p:cSld>
  <p:clrMapOvr><a:masterClrMapping/></p:clrMapOvr>
</p:slide>
</file>

<file path=ppt/slides/slide5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৫. রোগী ব্যবস্থাপনা (Patient)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Patient List → Add Patient</a:t></a:r></a:p><a:p><a:r><a:rPr lang="bn" sz="18" b="false" dirty="0"/><a:t>Auto Code: PAT000001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রোগী ভর্তির সময় সিস্টেম অটোমেটিক একটি ইউনিক কোড তৈরি করে, যেমন PAT000001।</a:t></a:r></a:p><a:p><a:r><a:rPr lang="bn" sz="16" b="false" dirty="0"/><a:t>রোগীর প্রোফাইল, ইতিহাস ও সার্চ এখান থেকেই করা যায়।</a:t></a:r></a:p>
  </p:txBody>
</p:sp>
    </p:spTree>
  </p:cSld>
  <p:clrMapOvr><a:masterClrMapping/></p:clrMapOvr>
</p:slide>
</file>

<file path=ppt/slides/slide6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৬. অ্যাপয়েন্টমেন্ট ও স্লিপ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Appointment Slip</a:t></a:r></a:p><a:p><a:r><a:rPr lang="bn" sz="18" b="false" dirty="0"/><a:t>Serial No: 12  |  Token: 2  |  [QR Code]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রোগী অ্যাপয়েন্টমেন্ট বুক করলে সিস্টেম একটি সিরিয়াল নম্বর ও ওই দিনের ডাক্তার অনুযায়ী টোকেন দেয়।</a:t></a:r></a:p><a:p><a:r><a:rPr lang="bn" sz="16" b="false" dirty="0"/><a:t>স্লিপে QR কোড ও ডাউনলোডযোগ্য PDF থাকে।</a:t></a:r></a:p>
  </p:txBody>
</p:sp>
    </p:spTree>
  </p:cSld>
  <p:clrMapOvr><a:masterClrMapping/></p:clrMapOvr>
</p:slide>
</file>

<file path=ppt/slides/slide7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৭. ডাক্তার ও শিডিউল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Doctor Profile • Department</a:t></a:r></a:p><a:p><a:r><a:rPr lang="bn" sz="18" b="false" dirty="0"/><a:t>Schedule Slots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ডাক্তারদের প্রোফাইল, বিভাগ ও শিডিউল ম্যানেজ করা যায়,</a:t></a:r></a:p><a:p><a:r><a:rPr lang="bn" sz="16" b="false" dirty="0"/><a:t>যাতে রোগী সুবিধামতো সময় বুক করতে পারে।</a:t></a:r></a:p>
  </p:txBody>
</p:sp>
    </p:spTree>
  </p:cSld>
  <p:clrMapOvr><a:masterClrMapping/></p:clrMapOvr>
</p:slide>
</file>

<file path=ppt/slides/slide8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৮. ফার্মেসি (Pharmacy)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Medicine List • Stock • Sale</a:t></a:r></a:p><a:p><a:r><a:rPr lang="bn" sz="18" b="false" dirty="0"/><a:t>Purchase Order • Low-stock Alert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ফার্মেসি মডিউলে ওষুধের তালিকা, স্টক, বিক্রয় ও পারচেজ অর্ডার আছে।</a:t></a:r></a:p><a:p><a:r><a:rPr lang="bn" sz="16" b="false" dirty="0"/><a:t>স্টক কমে গেলে অ্যালার্ট পাওয়া যায়।</a:t></a:r></a:p>
  </p:txBody>
</p:sp>
    </p:spTree>
  </p:cSld>
  <p:clrMapOvr><a:masterClrMapping/></p:clrMapOvr>
</p:slide>
</file>

<file path=ppt/slides/slide9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৯. ল্যাবরেটরি (Lab)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Test Master • Lab Order</a:t></a:r></a:p><a:p><a:r><a:rPr lang="bn" sz="18" b="false" dirty="0"/><a:t>Lab Report (PDF)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ল্যাব টেস্ট অর্ডার করা যায় এবং রিপোর্ট PDF আকারে তৈরি ও শেয়ার করা যায়।</a:t></a:r></a:p>
  </p:txBody>
</p:sp>
    </p:spTree>
  </p:cSld>
  <p:clrMapOvr><a:masterClrMapping/></p:clrMapOvr>
</p:slide>
</file>

<file path=ppt/slides/slide10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১০. বিলিং (Billing)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Invoice • Payment • Refund</a:t></a:r></a:p><a:p><a:r><a:rPr lang="bn" sz="18" b="false" dirty="0"/><a:t>Billing Dashboard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চিকিৎসা শেষে অটো ইনভয়েস তৈরি হয়, পেমেন্ট ও রিফান্ড নেওয়া যায়</a:t></a:r></a:p><a:p><a:r><a:rPr lang="bn" sz="16" b="false" dirty="0"/><a:t>এবং বিলিং ড্যাশবোর্ড থেকে আয়-ব্যয় বোঝা যায়।</a:t></a:r></a:p>
  </p:txBody>
</p:sp>
    </p:spTree>
  </p:cSld>
  <p:clrMapOvr><a:masterClrMapping/></p:clrMapOvr>
</p:slide>
</file>

<file path=ppt/slides/slide11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১১. ইন্স্যুরেন্স (Insurance)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Insurance Claim</a:t></a:r></a:p><a:p><a:r><a:rPr lang="bn" sz="18" b="false" dirty="0"/><a:t>Status Tracking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রোগীর ইন্স্যুরেন্স ক্লেইম এখানেই ম্যানেজ ও ট্র্যাক করা হয়।</a:t></a:r></a:p>
  </p:txBody>
</p:sp>
    </p:spTree>
  </p:cSld>
  <p:clrMapOvr><a:masterClrMapping/></p:clrMapOvr>
</p:slide>
</file>

<file path=ppt/slides/slide12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১২. জরুরি বিভাগ (Emergency)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Registration • Triage • Beds</a:t></a:r></a:p><a:p><a:r><a:rPr lang="bn" sz="18" b="false" dirty="0"/><a:t>Ambulance • Live Status Board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ইমার্জেন্সি মডিউল খুব শক্তিশালী — রেজিস্ট্রেশন, ট্রায়েজ, বেড, অ্যাম্বুলেন্স</a:t></a:r></a:p><a:p><a:r><a:rPr lang="bn" sz="16" b="false" dirty="0"/><a:t>এবং একটি লাইভ স্ট্যাটাস বোর্ড।</a:t></a:r></a:p>
  </p:txBody>
</p:sp>
    </p:spTree>
  </p:cSld>
  <p:clrMapOvr><a:masterClrMapping/></p:clrMapOvr>
</p:slide>
</file>

<file path=ppt/slides/slide13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১৩. ডায়েট ও কিচেন (Dietary)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Diet Plan • Patient Diet</a:t></a:r></a:p><a:p><a:r><a:rPr lang="bn" sz="18" b="false" dirty="0"/><a:t>Kitchen Order • Nutrition Analytics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হাসপাতালের খাবার ব্যবস্থাপনাও আছে — ডাইট প্ল্যান, রোগীভিত্তিক ডাইট,</a:t></a:r></a:p><a:p><a:r><a:rPr lang="bn" sz="16" b="false" dirty="0"/><a:t>কিচেন অর্ডার ও পুষ্টি বিশ্লেষণ।</a:t></a:r></a:p>
  </p:txBody>
</p:sp>
    </p:spTree>
  </p:cSld>
  <p:clrMapOvr><a:masterClrMapping/></p:clrMapOvr>
</p:slide>
</file>

<file path=ppt/slides/slide14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১৪. সার্জারি / অপারেশন থিয়েটার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Surgery Schedule • OT</a:t></a:r></a:p><a:p><a:r><a:rPr lang="bn" sz="18" b="false" dirty="0"/><a:t>Categories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অপারেশন থিয়েটার ও সার্জারি পরিকল্পনা একই সিস্টেমে ম্যানেজ করা যায়।</a:t></a:r></a:p>
  </p:txBody>
</p:sp>
    </p:spTree>
  </p:cSld>
  <p:clrMapOvr><a:masterClrMapping/></p:clrMapOvr>
</p:slide>
</file>

<file path=ppt/slides/slide15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১৫. ওয়ার্ড ও বেড ব্যবস্থাপনা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Ward → Bed Occupancy</a:t></a:r></a:p><a:p><a:r><a:rPr lang="bn" sz="18" b="false" dirty="0"/><a:t>Admission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ওয়ার্ড ও বেডের অবস্থা রিয়েল-টাইম দেখা যায়</a:t></a:r></a:p><a:p><a:r><a:rPr lang="bn" sz="16" b="false" dirty="0"/><a:t>এবং রোগী ভর্তি/ছাড় সহজ হয়।</a:t></a:r></a:p>
  </p:txBody>
</p:sp>
    </p:spTree>
  </p:cSld>
  <p:clrMapOvr><a:masterClrMapping/></p:clrMapOvr>
</p:slide>
</file>

<file path=ppt/slides/slide16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১৬. অ্যাডমিশন ও ডিসচার্জ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Admit Patient</a:t></a:r></a:p><a:p><a:r><a:rPr lang="bn" sz="18" b="false" dirty="0"/><a:t>Discharge Summary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রোগী ভর্তি থেকে ছাড়পত্র পর্যন্ত পুরো প্রক্রিয়া ডিজিটাল।</a:t></a:r></a:p>
  </p:txBody>
</p:sp>
    </p:spTree>
  </p:cSld>
  <p:clrMapOvr><a:masterClrMapping/></p:clrMapOvr>
</p:slide>
</file>

<file path=ppt/slides/slide17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১৭. রিপোর্ট ও ড্যাশবোর্ড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Admin / Doctor / Billing-Clerk Dashboards</a:t></a:r></a:p><a:p><a:r><a:rPr lang="bn" sz="18" b="false" dirty="0"/><a:t>+ Charts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রোল অনুযায়ী আলাদা ড্যাশবোর্ড ও বিভিন্ন অ্যানালিটিক্যাল রিপোর্ট পাওয়া যায়।</a:t></a:r></a:p>
  </p:txBody>
</p:sp>
    </p:spTree>
  </p:cSld>
  <p:clrMapOvr><a:masterClrMapping/></p:clrMapOvr>
</p:slide>
</file>

<file path=ppt/slides/slide18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১৮. ইউআই, কালার ও অ্যানিমেশন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Emerald Gradient Hero + Wave</a:t></a:r></a:p><a:p><a:r><a:rPr lang="bn" sz="18" b="false" dirty="0"/><a:t>White Cards + Fade-in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ইন্টারফেস তৈরি করা হয়েছে আধুনিক করে — সবুজ-নীল গ্রেডিয়েন্ট হিরো,</a:t></a:r></a:p><a:p><a:r><a:rPr lang="bn" sz="16" b="false" dirty="0"/><a:t>অ্যানিমেটেড ওয়েভ, সাদা কার্ড ও স্মুথ ফেড-ইন অ্যানিমেশনসহ।</a:t></a:r></a:p>
  </p:txBody>
</p:sp>
    </p:spTree>
  </p:cSld>
  <p:clrMapOvr><a:masterClrMapping/></p:clrMapOvr>
</p:slide>
</file>

<file path=ppt/slides/slide19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১৯. নিরাপত্তা (Security)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Login → JWT Token</a:t></a:r></a:p><a:p><a:r><a:rPr lang="bn" sz="18" b="false" dirty="0"/><a:t>Role-based Access</a:t></a:r></a:p><a:p><a:r><a:rPr lang="bn" sz="18" b="false" dirty="0"/><a:t>Admin / Doctor / Patient / Nurse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সিস্টেমটি JWT-ভিত্তিক লগইন ও রোল-ভিত্তিক অ্যাক্সেস নিরাপত্তা দিয়ে সুরক্ষিত।</a:t></a:r></a:p>
  </p:txBody>
</p:sp>
    </p:spTree>
  </p:cSld>
  <p:clrMapOvr><a:masterClrMapping/></p:clrMapOvr>
</p:slide>
</file>

<file path=ppt/slides/slide20.xml><?xml version="1.0" encoding="UTF-8" standalone="yes"?>
<p:slide xmlns:a="http://schemas.openxmlformats.org/drawingml/2006/main" xmlns:r="http://schemas.openxmlformats.org/officeDocument/2006/relationships" xmlns:p="http://schemas.openxmlformats.org/presentationml/2006/main>
  <p:cSld>
    <p:spTree>
      <p:nvGrpSpPr><p:cNvPr id="1" name=""/><p:cNvGrpSpPr/><p:grpSpPr/></p:nvGrpSpPr>
      <p:sp>
  <p:nvSpPr><p:cNvPr id="2" name="Title"/><p:cNvSpPr txBox="1"/></p:nvSpPr>
  <p:spPr>
    <a:xfrm><a:off x="600000" y="300000"/><a:ext cx="10992000" cy="1100000"/></a:xfrm>
    <a:prstGeom prst="rect"><a:avLst/></a:prstGeom>
    <a:noFill/>
  </p:spPr>
  <p:txBody>
    <a:bodyPr wrap="square" lIns="91440" tIns="45720" rIns="91440" bIns="45720" anchor="t"/>
    <a:lstStyle/>
    <a:p><a:r><a:rPr lang="bn" sz="32" b="true" dirty="0"/><a:t>২০. উপসংহার</a:t></a:r></a:p>
  </p:txBody>
</p:sp>
      <p:sp>
  <p:nvSpPr><p:cNvPr id="3" name="Caption"/><p:cNvSpPr txBox="1"/></p:nvSpPr>
  <p:spPr>
    <a:xfrm><a:off x="600000" y="1500000"/><a:ext cx="10992000" cy="1900000"/></a:xfrm>
    <a:prstGeom prst="rect"><a:avLst/></a:prstGeom>
    <a:noFill/>
  </p:spPr>
  <p:txBody>
    <a:bodyPr wrap="square" lIns="91440" tIns="45720" rIns="91440" bIns="45720" anchor="t"/>
    <a:lstStyle/>
    <a:p><a:r><a:rPr lang="bn" sz="18" b="false" dirty="0"/><a:t>à¦¸à§à¦•à§à¦°à¦¿à¦¨à§‡ à¦¥à¦¾à¦•à¦¬à§‡:</a:t></a:r></a:p><a:p/><a:p><a:r><a:rPr lang="bn" sz="18" b="false" dirty="0"/><a:t>Thank You</a:t></a:r></a:p><a:p><a:r><a:rPr lang="bn" sz="18" b="false" dirty="0"/><a:t>Modern Hospital Management System</a:t></a:r></a:p>
  </p:txBody>
</p:sp>
      <p:sp>
  <p:nvSpPr><p:cNvPr id="4" name="Narration"/><p:cNvSpPr txBox="1"/></p:nvSpPr>
  <p:spPr>
    <a:xfrm><a:off x="600000" y="3600000"/><a:ext cx="10992000" cy="2900000"/></a:xfrm>
    <a:prstGeom prst="rect"><a:avLst/></a:prstGeom>
    <a:noFill/>
  </p:spPr>
  <p:txBody>
    <a:bodyPr wrap="square" lIns="91440" tIns="45720" rIns="91440" bIns="45720" anchor="t"/>
    <a:lstStyle/>
    <a:p><a:r><a:rPr lang="bn" sz="16" b="false" dirty="0"/><a:t>à¦¨à§à¦¯à¦¾à¦°à§‡à¦¶à¦¨:</a:t></a:r></a:p><a:p/><a:p><a:r><a:rPr lang="bn" sz="16" b="false" dirty="0"/><a:t>এটি একটি সম্পূর্ণ, স্কেলেবল ও ব্যবহারবান্ধব হাসপাতাল ম্যানেজমেন্ট সিস্টেম।</a:t></a:r></a:p><a:p><a:r><a:rPr lang="bn" sz="16" b="false" dirty="0"/><a:t>দেখার জন্য ধন্যবাদ। যেকোনো প্রশ্ন থাকলে জিজ্ঞাসা করতে পারেন।</a:t></a:r></a:p>
  </p:txBody>
</p:sp>
    </p:spTree>
  </p:cSld>
  <p:clrMapOvr><a:masterClrMapping/></p:clrMapOvr>
</p:slide>
</file>

<file path=ppt/theme/_rels/theme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F2F6"/>
      </a:lt2>
      <a:accent1>
        <a:srgbClr val="059669"/>
      </a:accent1>
      <a:accent2>
        <a:srgbClr val="0891B2"/>
      </a:accent2>
      <a:accent3>
        <a:srgbClr val="0F5132"/>
      </a:accent3>
      <a:accent4>
        <a:srgbClr val="20C997"/>
      </a:accent4>
      <a:accent5>
        <a:srgbClr val="D97706"/>
      </a:accent5>
      <a:accent6>
        <a:srgbClr val="DC2626"/>
      </a:accent6>
      <a:hlink>
        <a:srgbClr val="0563C1"/>
      </a:hlink>
      <a:folHlink>
        <a:srgbClr val="954F72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